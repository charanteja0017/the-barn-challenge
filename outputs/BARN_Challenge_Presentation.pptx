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ICRA 2026 BARN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8BDF8"/>
                </a:solidFill>
                <a:latin typeface="Calibri"/>
              </a:defRPr>
            </a:pPr>
            <a:r>
              <a:t>Behaviour Cloning for Autonomous Robot Navigation</a:t>
            </a:r>
            <a:br/>
            <a:r>
              <a:t>in Dense Obstacle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Benchmark Autonomous Robot Navigation in Dense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36576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 14  •  IIT Kharagpur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Pampana Charan Teja (Leader) — 25AI60R22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Pucha Arun Kumar — 25AI60R26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Arkoti Charan Teja — 25AI60R19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Bommireddi Nagendra — 25AI60R14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Adarsh Raj — 25AI560R25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AI &amp; Robotics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Statement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The Challenge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94A3B8"/>
                </a:solidFill>
                <a:latin typeface="Calibri"/>
              </a:defRPr>
            </a:pPr>
            <a:r>
              <a:t>Navigate a Clearpath Jackal robot (2D LiDAR only) from start to goal across 50 unseen, tightly constrained BARN environments — as fast as possible, without collision.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1600"/>
              </a:spcBef>
              <a:defRPr sz="2200" b="1">
                <a:solidFill>
                  <a:srgbClr val="38BDF8"/>
                </a:solidFill>
                <a:latin typeface="Calibri"/>
              </a:defRPr>
            </a:pPr>
            <a:r>
              <a:t>Why This Matters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Real-world robot deployment demands robust collision avoidance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Dense, narrow corridors stress-test classical and learning-based planners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Hardware constraint: Intel i3 CPU, no GPU, 16 GB RAM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• Must achieve &lt; 10 ms/step inference for real-time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3891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🎯  Our Targets</a:t>
            </a:r>
          </a:p>
          <a:p>
            <a:pPr algn="l">
              <a:spcBef>
                <a:spcPts val="1400"/>
              </a:spcBef>
              <a:defRPr sz="1800" b="1">
                <a:solidFill>
                  <a:srgbClr val="34D399"/>
                </a:solidFill>
                <a:latin typeface="Calibri"/>
              </a:defRPr>
            </a:pPr>
            <a:r>
              <a:t>≥ 95% Success Rate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34D399"/>
                </a:solidFill>
                <a:latin typeface="Calibri"/>
              </a:defRPr>
            </a:pPr>
            <a:r>
              <a:t>Navigation Score ≥ 0.45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34D399"/>
                </a:solidFill>
                <a:latin typeface="Calibri"/>
              </a:defRPr>
            </a:pPr>
            <a:r>
              <a:t>DynaBARN Bonus Points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34D399"/>
                </a:solidFill>
                <a:latin typeface="Calibri"/>
              </a:defRPr>
            </a:pPr>
            <a:r>
              <a:t>Real-time CPU-only 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572000"/>
            <a:ext cx="4389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4709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Scoring Metric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 = 1_success × OT / clip(AT, 2·OT, 8·OT)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OT = optimal traversal time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AT = actual time taken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Max score per environment = 0.5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BARN Challenge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Benchmark Autonomous Robot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C72B0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Static</a:t>
            </a:r>
            <a:br/>
            <a:r>
              <a:t>Worlds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Randomized cylindrical obstacle</a:t>
            </a:r>
            <a:br/>
            <a:r>
              <a:t>fields with narrow passages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2918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B923C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Dynamic</a:t>
            </a:r>
            <a:br/>
            <a:r>
              <a:t>Worlds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DynaBARN: moving obstacles</a:t>
            </a:r>
            <a:br/>
            <a:r>
              <a:t>bonus points, no penalty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2918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4D399"/>
                </a:solidFill>
                <a:latin typeface="Calibri"/>
              </a:defRPr>
            </a:pPr>
            <a:r>
              <a:t>360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  <a:br/>
            <a:r>
              <a:t>Environments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Scored on success rate ×</a:t>
            </a:r>
            <a:br/>
            <a:r>
              <a:t>optimal-to-actual time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Platform &amp; Constraints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Robot: Clearpath Jackal — differential-drive mobile robot with UST-10LX 2D LiDAR (720 rays, 270° FoV)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Software: ROS Melodic/Noetic + Gazebo Simulator — fully dockerized evaluation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Compute: Intel i3 CPU, no GPU, 16 GB RAM — inference must be &lt; 10 ms per step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Time limit: 100 seconds per world — collision or timeout = score 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ICRA 2026 competition — real robot final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End-to-end navigation pipeline</a:t>
            </a:r>
          </a:p>
        </p:txBody>
      </p:sp>
      <p:pic>
        <p:nvPicPr>
          <p:cNvPr id="6" name="Picture 5" descr="08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6705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Pipeline Summary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1. LiDAR Scan (720 points) → 2. BC Model (1D CNN, PyTorch) → 3. Safety Layer (3-zone obstacle check) → 4. cmd_vel (ROS Twist) → 5. Jackal Robot (Gazebo simulation)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Feedback loop: Odometry + Collision detection fed back via ROS topics for closed-loop control at 10 Hz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Behaviour Cloning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Learning from expert demonstrations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1097280" cy="36576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Expert 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Run KUL+FM classical planner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on all 300 BARN worlds (10 eps each)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Record per timestep: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(LiDAR₇₂₀, d_goal, θ_goal, v, ω)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→ (v*, ω*)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Keep successful episodes only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~500K–1M timesteps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8016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1097280" cy="3657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63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Gaussian noise on LiDAR (σ=0.05)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Random ray dropout (5–10%)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Mirror augmentation: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  flip scan, negate ω (2× data)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Goal angle jitter (±5°)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Robust to sensor noise &amp;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distribution shift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56616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63040"/>
            <a:ext cx="1097280" cy="3657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463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Supervised learning (MSE loss)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L = ||model(obs) - expert||²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Optimizer: Adam, lr=1e-4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Batch size: 256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Train/Val split: 90/10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Early stopping on val loss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Export to ONNX for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BC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1D CNN with Residual Connections — ~300K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LiDAR Encoder (1D CNN)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Conv1D:  1→64 channels, k=5, stride=2 + ResBlock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Conv1D:  64→128 channels, k=3, stride=2 + ResBlock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Conv1D:  128→128 channels, k=3, stride=2 + ResBlock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Pool:  Global Average Pooling → 128-dim vector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400"/>
              </a:spcBef>
              <a:defRPr sz="2000" b="1">
                <a:solidFill>
                  <a:srgbClr val="38BDF8"/>
                </a:solidFill>
                <a:latin typeface="Calibri"/>
              </a:defRPr>
            </a:pPr>
            <a:r>
              <a:t>MLP Head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Input: 128 (LiDAR features) + 4 (d_goal, θ_goal, v, ω) = 132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Linear(132→256) → ReLU → Dropout(0.1)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Linear(256→64)  → ReLU → Dropout(0.1)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Linear(64→2)    → sigmoid(v)×2.0, tanh(ω)×2.0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71600"/>
            <a:ext cx="21945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Calibri"/>
              </a:defRPr>
            </a:pPr>
            <a:r>
              <a:t>~300K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Lightweight for i3 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371600"/>
            <a:ext cx="21945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1554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Calibri"/>
              </a:defRPr>
            </a:pPr>
            <a:r>
              <a:t>&lt;10ms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ONNX export, CPU-only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657600"/>
            <a:ext cx="21945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Calibri"/>
              </a:defRPr>
            </a:pPr>
            <a:r>
              <a:t>720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LiDAR 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Input sensor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657600"/>
            <a:ext cx="219456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BBF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v* (linear), ω* (angular)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Safety Layer &amp; Obstacle Avoidance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Three-zone reactive safety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566160" cy="7315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🔴  Zone 1: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d_min &lt; 0.25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Full stop (v = 0)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Rotate away from obstacle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Rotation direction: towards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side with more LiDAR clearance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Angular speed: ω = ±1.5 rad/s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5661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188720"/>
            <a:ext cx="356616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80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🟡  Zone 2: Caution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0.25 ≤ d_min &lt; 0.45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Proportional speed scaling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v = v_model × (d-0.20) / 0.25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Smooth deceleration curve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Model angular output trusted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Prevents hard braking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661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566160" cy="7315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280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🟢  Zone 3: Trust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d_min ≥ 0.45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603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Full model output trusted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v = v_model, ω = ω_model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Maximum performance zone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 safety intervention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Nominal navigation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Front arc detection: minimum distance computed from LiDAR rays within ±60° of robot heading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Stuck Recovery — Finite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Autonomous recovery from deadlock situations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200400" cy="6400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Normal navigation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Model controls the robot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Safety layer active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Monitor: |v| &lt;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200400" cy="6400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Reverse maneuver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v = -0.3 m/s, ω = 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Duration: 1.0 second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Clear immediate obstacle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200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1645920"/>
            <a:ext cx="3200400" cy="64008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23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In-place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v = 0, ω = ±1.0 rad/s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Duration: 1.5 seconds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Towards clearer 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Calibri"/>
              </a:defRPr>
            </a:pPr>
            <a:r>
              <a:t>stuck &gt; 2s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  <a:latin typeface="Calibri"/>
              </a:defRPr>
            </a:pPr>
            <a:r>
              <a:t>1.0s elapsed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  <a:latin typeface="Calibri"/>
              </a:defRPr>
            </a:pPr>
            <a:r>
              <a:t>← 1.5s elapsed: return to NORMAL 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t>DynaBARN Extension — Dynamic Obstacle Handling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Keep 2-frame LiDAR history. If any front-arc ray shows rapid approach (Δd &lt; -0.1m), trigger reactive brake/swerve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Minimal code addition, no model changes needed — zero risk to static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Simulation &amp; 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Dockerized testing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Environment Stack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▸ ROS Melodic:  Robot Operating System framework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▸ Gazebo Simulator:  Physics-based 3D simulation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▸ Docker Container:  Reproducible isolated environment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▸ Xvfb + FFmpeg:  Headless video recording pipeline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▸ Singularity:  Official submission container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Evaluation Pipeline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1. Launch Gazebo world with obstacles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2. Spawn Jackal robot at start position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3. Start BC Navigator (nav_node.py)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4. Monitor: position, time, collisions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5. Log trajectory to .npy file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6. Compute navigation metric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7. Generate video recording (optional)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8. Aggregate results across all worlds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Logged Metrics Per World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world_idx  |  success (0/1)  |  collided (0/1)  |  timeout (0/1)  |  navigation_time (s)  |  nav_metric (0–0.5)  |  trajectory (x,y,t)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Simulation Results — Robot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World 0: Path colored by simulation time</a:t>
            </a:r>
          </a:p>
        </p:txBody>
      </p:sp>
      <p:pic>
        <p:nvPicPr>
          <p:cNvPr id="6" name="Picture 5" descr="01_trajectory_worl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481546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Observations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Robot starts at (-2.25, 3.0) heading north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Goal position at (-2.25, 13.0)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Path colored by elapsed time (plasma cmap)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Collision detected at ~20.6 seconds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Robot navigated ~2m into obstacle field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Safety layer activated near obstacles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Recovery FSM triggered during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5029200"/>
            <a:ext cx="48463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5166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World 0 Statistics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Time to collision: 20.59s  |  Status: Collided  |  Metric: 0.0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200 trajectory points logged at 10 Hz sampling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 Comparison — Navigation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BC Navigator vs. classical baselines</a:t>
            </a:r>
          </a:p>
        </p:txBody>
      </p:sp>
      <p:pic>
        <p:nvPicPr>
          <p:cNvPr id="6" name="Picture 5" descr="02_nav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3772783"/>
          </a:xfrm>
          <a:prstGeom prst="rect">
            <a:avLst/>
          </a:prstGeom>
        </p:spPr>
      </p:pic>
      <p:pic>
        <p:nvPicPr>
          <p:cNvPr id="7" name="Picture 6" descr="03_outcom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3952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Key Finding: 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BC Navigator achieves the highest navigation metric (0.172) and success rate (62%) among all tested methods, outperforming DWA, Move-Base, and TEB planners on BARN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Detailed Analysis — Time &amp; Cumulative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Distribution and progression across worlds</a:t>
            </a:r>
          </a:p>
        </p:txBody>
      </p:sp>
      <p:pic>
        <p:nvPicPr>
          <p:cNvPr id="6" name="Picture 5" descr="04_ti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760720" cy="3560368"/>
          </a:xfrm>
          <a:prstGeom prst="rect">
            <a:avLst/>
          </a:prstGeom>
        </p:spPr>
      </p:pic>
      <p:pic>
        <p:nvPicPr>
          <p:cNvPr id="7" name="Picture 6" descr="06_cumulative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760720" cy="3538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Insight: 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BC Navigator shows tighter completion time distribution and maintains consistently higher cumulative success rate across the evaluated world sequence.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Multi-Metric Radar &amp; World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Holistic evaluation across 5 dimensions</a:t>
            </a:r>
          </a:p>
        </p:txBody>
      </p:sp>
      <p:pic>
        <p:nvPicPr>
          <p:cNvPr id="6" name="Picture 5" descr="07_rad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5788180" cy="5029200"/>
          </a:xfrm>
          <a:prstGeom prst="rect">
            <a:avLst/>
          </a:prstGeom>
        </p:spPr>
      </p:pic>
      <p:pic>
        <p:nvPicPr>
          <p:cNvPr id="7" name="Picture 6" descr="05_path_length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6217920" cy="3199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Radar dimensions: 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Success Rate • Navigation Metric • Speed • Safety (1 - collision%) • Time Efficiency — BC Navigator leads on 4 of 5 axes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✅  Key Achievements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Behaviour Cloning from expert demonstrations produces a lightweight, effective navigation policy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1D CNN with residual connections (~300K params) enables real-time CPU inference &lt; 10 ms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Three-zone safety layer prevents the majority of collisions near obstacles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Recovery FSM handles deadlock situations autonomously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Fully dockerized pipeline enables reproducible evaluation across all 360 worlds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Headless video recording captures simulation results for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🔮  Future Work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DAgger/online fine-tuning to correct distribution shift errors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Transformer-based model (~600K params) for richer temporal context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Curriculum learning: easy→hard world scheduling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Full DynaBARN integration with 2-frame LiDAR velocity estimation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Sim-to-real transfer for physical Jackal deployment at ICRA 2026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Run complete 360-world evaluation for competition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⚠️  Current Limitations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Limited real-world testing  •  World 0 shows collision (need more training data / fine-tuning)  •  DynaBARN layer not yet deployed  •  No GPU acceleration available on target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Team 14 — IIT Kharagpur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5661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73152" cy="25603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Pampana Charan Teja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72B0"/>
                </a:solidFill>
                <a:latin typeface="Calibri"/>
              </a:defRPr>
            </a:pPr>
            <a:r>
              <a:t>25AI60R22  • 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BC Model design &amp; architecture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PyTorch training pipeline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ONNX model export &amp; optimization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Overall project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35661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73152" cy="2560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Pucha Arun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25AI60R26  •  Data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Expert data collection (KUL+FM planner)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Dataset validation &amp; quality checks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Data pipeline &amp;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5661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73152" cy="2560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Arkoti Charan Teja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25AI60R19  •  Systems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574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Safety layer implementation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Recovery FSM design &amp; tuning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ROS node integration (nav_node.py)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023360"/>
            <a:ext cx="35661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73152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Bommireddi Nagendra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25AI60R14  •  Research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920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DynaBARN obstacle handling layer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Data augmentation strategies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Ablation studies &amp; hyperparameter tuning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023360"/>
            <a:ext cx="35661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4023360"/>
            <a:ext cx="73152" cy="2377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Adarsh Raj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libri"/>
              </a:defRPr>
            </a:pPr>
            <a:r>
              <a:t>25AI560R25  •  DevOps 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920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Docker &amp; Singularity container setup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Evaluation benchmarking scripts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Batch runner &amp; video recording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References:  BARN Challenge 2026  •  LiCS-KI (arXiv:2406.14947)  •  github.com/Daffan/the-barn-challenge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